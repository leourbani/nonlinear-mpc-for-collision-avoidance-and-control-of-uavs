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b7ddc884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b7ddc88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b7ddc884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b7ddc884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7ddc884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b7ddc884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b7ddc88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b7ddc88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7ddc884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b7ddc884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b7ddc884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b7ddc884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b7ddc884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b7ddc884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b7ddc884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b7ddc884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b7ddc884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b7ddc884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1c2ce44741acc6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1c2ce44741acc6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1c2ce44741acc6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1c2ce44741acc6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b7ddc884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b7ddc884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b7ddc884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b7ddc884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b7ddc884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b7ddc884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b7ddc884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b7ddc884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b7ddc884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b7ddc884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b7ddc884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b7ddc884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b7ddc884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b7ddc884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b7ddc884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b7ddc884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hyperlink" Target="http://drive.google.com/file/d/1giA1UxOPU5-a6IooQ8WisufPfSpw8if3/view" TargetMode="External"/><Relationship Id="rId5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hyperlink" Target="http://drive.google.com/file/d/12R6nVzlnIpmDYN_stuS5HfVFv-8qbxTx/view" TargetMode="External"/><Relationship Id="rId5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92605"/>
            <a:ext cx="8222100" cy="24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22">
                <a:solidFill>
                  <a:srgbClr val="F1C232"/>
                </a:solidFill>
              </a:rPr>
              <a:t>Nonlinear MPC for</a:t>
            </a:r>
            <a:endParaRPr sz="3022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22">
                <a:solidFill>
                  <a:srgbClr val="F1C232"/>
                </a:solidFill>
              </a:rPr>
              <a:t>Collision Avoidance and Control of</a:t>
            </a:r>
            <a:endParaRPr sz="3022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22">
                <a:solidFill>
                  <a:srgbClr val="F1C232"/>
                </a:solidFill>
              </a:rPr>
              <a:t>UAVs With Dynamic Obstacles</a:t>
            </a:r>
            <a:endParaRPr sz="3022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4061600"/>
            <a:ext cx="35229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/>
              <a:t>Davide Alban - 344963</a:t>
            </a:r>
            <a:endParaRPr sz="178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/>
              <a:t>Davide De Bortoli - 344975</a:t>
            </a:r>
            <a:endParaRPr sz="178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/>
              <a:t>Leonardo Urbani - 344982</a:t>
            </a:r>
            <a:endParaRPr sz="178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2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50499" y="2163750"/>
            <a:ext cx="79179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582"/>
              <a:t>Björn Lindqvist, Sina Sharif Mansouri, Ali-akbar Agha-mohammadi, and</a:t>
            </a:r>
            <a:endParaRPr sz="158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582"/>
              <a:t>George Nikolakopoulos - 2020</a:t>
            </a:r>
            <a:endParaRPr sz="158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363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objective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84700"/>
            <a:ext cx="8520600" cy="3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Collision avoidance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Moving obstacles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Safe operation in dynamic environments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500" y="634125"/>
            <a:ext cx="3170650" cy="31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363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cost function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2177175"/>
            <a:ext cx="8520600" cy="23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Trajectory is computed minimizing this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it">
                <a:solidFill>
                  <a:srgbClr val="00FF00"/>
                </a:solidFill>
              </a:rPr>
              <a:t>State cost:</a:t>
            </a:r>
            <a:r>
              <a:rPr b="1" lang="it"/>
              <a:t> </a:t>
            </a:r>
            <a:r>
              <a:rPr lang="it"/>
              <a:t>based on drone position wrt the </a:t>
            </a:r>
            <a:r>
              <a:rPr lang="it"/>
              <a:t>desired</a:t>
            </a:r>
            <a:r>
              <a:rPr lang="it"/>
              <a:t>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it">
                <a:solidFill>
                  <a:srgbClr val="FF0000"/>
                </a:solidFill>
              </a:rPr>
              <a:t>Input cost:</a:t>
            </a:r>
            <a:r>
              <a:rPr lang="it"/>
              <a:t> penalizes deviation from the steady-state input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it">
                <a:solidFill>
                  <a:srgbClr val="FF00FF"/>
                </a:solidFill>
              </a:rPr>
              <a:t>Input smoothness cost:</a:t>
            </a:r>
            <a:r>
              <a:rPr lang="it"/>
              <a:t> penalizes changes in successive inputs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6700"/>
            <a:ext cx="8839200" cy="74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2386250" y="1108550"/>
            <a:ext cx="1972800" cy="7848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464750" y="1108550"/>
            <a:ext cx="1972800" cy="784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625225" y="1108550"/>
            <a:ext cx="2366400" cy="784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2882" y="2866157"/>
            <a:ext cx="1614500" cy="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soft constraints 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24975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SPHERICAL OBSTACLE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Growing sphere along the prediction horizon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           : obstacle estimated radius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       : safety radius linearly increasing along prediction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50" y="3702000"/>
            <a:ext cx="6077649" cy="96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200" y="2270925"/>
            <a:ext cx="527800" cy="3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350" y="2766750"/>
            <a:ext cx="289600" cy="2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soft constraints 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24975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2.  CONTROL INPUT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Avoiding aggressive or oscillatory behavior of the control inputs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                  and                    maximum  change in input per time step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00" y="3407878"/>
            <a:ext cx="5810251" cy="11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99" y="2343144"/>
            <a:ext cx="851875" cy="37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0050" y="2407792"/>
            <a:ext cx="851875" cy="3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hard</a:t>
            </a:r>
            <a:r>
              <a:rPr lang="it">
                <a:solidFill>
                  <a:srgbClr val="F1C232"/>
                </a:solidFill>
              </a:rPr>
              <a:t> constraints </a:t>
            </a:r>
            <a:endParaRPr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24975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3. INPUT CONSTRAINTS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Trust and tilting angles in a real UAV are limited.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This </a:t>
            </a:r>
            <a:r>
              <a:rPr lang="it"/>
              <a:t>constraint cannot be broken!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350" y="3151320"/>
            <a:ext cx="4667151" cy="7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OpEn minimizer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311700" y="1140725"/>
            <a:ext cx="54777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Main problem of NMPC control: Solver Time!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PANOC fast and light minimizer, suitable for UAV, has </a:t>
            </a:r>
            <a:r>
              <a:rPr lang="it"/>
              <a:t>very low memory and computational footprint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Minimizer called using TCP/IP protocol from ROS2 node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771" y="253638"/>
            <a:ext cx="1900225" cy="9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350" y="1328600"/>
            <a:ext cx="2734949" cy="24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2848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Paper presentation: </a:t>
            </a:r>
            <a:r>
              <a:rPr lang="it">
                <a:solidFill>
                  <a:srgbClr val="F1C232"/>
                </a:solidFill>
              </a:rPr>
              <a:t>Trajectory Identification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229875"/>
            <a:ext cx="2110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it"/>
              <a:t>Possible obstacle trajectory:</a:t>
            </a:r>
            <a:endParaRPr b="1" i="1"/>
          </a:p>
        </p:txBody>
      </p:sp>
      <p:cxnSp>
        <p:nvCxnSpPr>
          <p:cNvPr id="145" name="Google Shape;145;p20"/>
          <p:cNvCxnSpPr/>
          <p:nvPr/>
        </p:nvCxnSpPr>
        <p:spPr>
          <a:xfrm flipH="1">
            <a:off x="2251499" y="1486125"/>
            <a:ext cx="604800" cy="107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6" name="Google Shape;146;p20"/>
          <p:cNvCxnSpPr/>
          <p:nvPr/>
        </p:nvCxnSpPr>
        <p:spPr>
          <a:xfrm flipH="1">
            <a:off x="2252650" y="2545770"/>
            <a:ext cx="608100" cy="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 rot="10800000">
            <a:off x="2253118" y="2559825"/>
            <a:ext cx="598800" cy="100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8" name="Google Shape;148;p20"/>
          <p:cNvSpPr txBox="1"/>
          <p:nvPr/>
        </p:nvSpPr>
        <p:spPr>
          <a:xfrm>
            <a:off x="2887550" y="1238040"/>
            <a:ext cx="1186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STATIC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2887550" y="2366915"/>
            <a:ext cx="1186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LINEAR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2860750" y="3441655"/>
            <a:ext cx="1371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PARABOLIC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4384" l="13684" r="9179" t="5027"/>
          <a:stretch/>
        </p:blipFill>
        <p:spPr>
          <a:xfrm>
            <a:off x="4571998" y="3067537"/>
            <a:ext cx="1716000" cy="161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 b="4221" l="11843" r="9515" t="5001"/>
          <a:stretch/>
        </p:blipFill>
        <p:spPr>
          <a:xfrm>
            <a:off x="6550085" y="1524415"/>
            <a:ext cx="1933175" cy="1785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 rotWithShape="1">
          <a:blip r:embed="rId5">
            <a:alphaModFix/>
          </a:blip>
          <a:srcRect b="2616" l="15156" r="9063" t="4584"/>
          <a:stretch/>
        </p:blipFill>
        <p:spPr>
          <a:xfrm>
            <a:off x="4572000" y="835249"/>
            <a:ext cx="1645488" cy="16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implementation: </a:t>
            </a:r>
            <a:r>
              <a:rPr lang="it">
                <a:solidFill>
                  <a:srgbClr val="F1C232"/>
                </a:solidFill>
              </a:rPr>
              <a:t>constraint formulation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00" y="1898075"/>
            <a:ext cx="8358379" cy="6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implementation</a:t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265435"/>
            <a:ext cx="8520598" cy="552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22"/>
          <p:cNvCxnSpPr/>
          <p:nvPr/>
        </p:nvCxnSpPr>
        <p:spPr>
          <a:xfrm flipH="1" rot="10800000">
            <a:off x="1285265" y="1816939"/>
            <a:ext cx="75960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7" name="Google Shape;167;p22"/>
          <p:cNvCxnSpPr/>
          <p:nvPr/>
        </p:nvCxnSpPr>
        <p:spPr>
          <a:xfrm rot="10800000">
            <a:off x="2043625" y="1812974"/>
            <a:ext cx="2273100" cy="71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8" name="Google Shape;168;p22"/>
          <p:cNvSpPr txBox="1"/>
          <p:nvPr/>
        </p:nvSpPr>
        <p:spPr>
          <a:xfrm>
            <a:off x="909311" y="2429075"/>
            <a:ext cx="486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1"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4316719" y="2429070"/>
            <a:ext cx="667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500</a:t>
            </a:r>
            <a:endParaRPr b="1"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" y="2892865"/>
            <a:ext cx="2305500" cy="18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7400" y="2931400"/>
            <a:ext cx="2273100" cy="181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implementation</a:t>
            </a:r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4725"/>
            <a:ext cx="8448127" cy="549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7607" y="2571751"/>
            <a:ext cx="3765174" cy="178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implementation</a:t>
            </a:r>
            <a:endParaRPr/>
          </a:p>
        </p:txBody>
      </p:sp>
      <p:pic>
        <p:nvPicPr>
          <p:cNvPr id="184" name="Google Shape;18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813" y="1379258"/>
            <a:ext cx="8382375" cy="5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262" y="2018734"/>
            <a:ext cx="3508525" cy="28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95440" y="2947703"/>
            <a:ext cx="243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case of collision: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implementation</a:t>
            </a:r>
            <a:r>
              <a:rPr lang="it"/>
              <a:t>: </a:t>
            </a:r>
            <a:r>
              <a:rPr lang="it">
                <a:solidFill>
                  <a:srgbClr val="F1C232"/>
                </a:solidFill>
              </a:rPr>
              <a:t>ROS2 - computation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5" title="computation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76" y="1017788"/>
            <a:ext cx="5464851" cy="37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/>
          <p:nvPr/>
        </p:nvSpPr>
        <p:spPr>
          <a:xfrm rot="-5400000">
            <a:off x="6184350" y="3906075"/>
            <a:ext cx="977100" cy="9771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7171225" y="3906075"/>
            <a:ext cx="133200" cy="8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implementation: </a:t>
            </a:r>
            <a:r>
              <a:rPr lang="it">
                <a:solidFill>
                  <a:srgbClr val="F1C232"/>
                </a:solidFill>
              </a:rPr>
              <a:t>ROS2 - packages and nodes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6" title="computation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76" y="1017788"/>
            <a:ext cx="5464851" cy="37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/>
          <p:nvPr/>
        </p:nvSpPr>
        <p:spPr>
          <a:xfrm>
            <a:off x="3557700" y="1017800"/>
            <a:ext cx="2083200" cy="17040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3557700" y="3069175"/>
            <a:ext cx="2083200" cy="17628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6"/>
          <p:cNvSpPr/>
          <p:nvPr/>
        </p:nvSpPr>
        <p:spPr>
          <a:xfrm rot="-5400000">
            <a:off x="6184350" y="3906075"/>
            <a:ext cx="977100" cy="9771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7171225" y="3906075"/>
            <a:ext cx="133200" cy="8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 title="computation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76" y="1017788"/>
            <a:ext cx="5464851" cy="37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implementation: </a:t>
            </a:r>
            <a:r>
              <a:rPr lang="it">
                <a:solidFill>
                  <a:srgbClr val="F1C232"/>
                </a:solidFill>
              </a:rPr>
              <a:t>ROS2 - subscribers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5302250" y="2816925"/>
            <a:ext cx="2065500" cy="6441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 rot="-5400000">
            <a:off x="6194125" y="3906075"/>
            <a:ext cx="977100" cy="9771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7179600" y="3906075"/>
            <a:ext cx="133200" cy="8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implementation: </a:t>
            </a:r>
            <a:r>
              <a:rPr lang="it">
                <a:solidFill>
                  <a:srgbClr val="F1C232"/>
                </a:solidFill>
              </a:rPr>
              <a:t>ROS2 - publishers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8" title="computation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76" y="1017788"/>
            <a:ext cx="5464851" cy="37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/>
          <p:nvPr/>
        </p:nvSpPr>
        <p:spPr>
          <a:xfrm>
            <a:off x="1705600" y="2815950"/>
            <a:ext cx="2257800" cy="6078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8"/>
          <p:cNvSpPr/>
          <p:nvPr/>
        </p:nvSpPr>
        <p:spPr>
          <a:xfrm rot="-5400000">
            <a:off x="6194125" y="3906075"/>
            <a:ext cx="977100" cy="977100"/>
          </a:xfrm>
          <a:prstGeom prst="rtTriangl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7179600" y="3906075"/>
            <a:ext cx="133200" cy="8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Simulation</a:t>
            </a:r>
            <a:r>
              <a:rPr lang="it"/>
              <a:t>: </a:t>
            </a:r>
            <a:r>
              <a:rPr lang="it">
                <a:solidFill>
                  <a:srgbClr val="F1C232"/>
                </a:solidFill>
              </a:rPr>
              <a:t>Gazebo - linear trajectory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9"/>
          <p:cNvPicPr preferRelativeResize="0"/>
          <p:nvPr/>
        </p:nvPicPr>
        <p:blipFill rotWithShape="1">
          <a:blip r:embed="rId3">
            <a:alphaModFix/>
          </a:blip>
          <a:srcRect b="0" l="0" r="0" t="7364"/>
          <a:stretch/>
        </p:blipFill>
        <p:spPr>
          <a:xfrm>
            <a:off x="5251750" y="1017800"/>
            <a:ext cx="3892250" cy="28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 title="Linear_obstacl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17800"/>
            <a:ext cx="5251752" cy="29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Simulation: </a:t>
            </a:r>
            <a:r>
              <a:rPr lang="it">
                <a:solidFill>
                  <a:srgbClr val="F1C232"/>
                </a:solidFill>
              </a:rPr>
              <a:t>Gazebo - parabolic trajectory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 rotWithShape="1">
          <a:blip r:embed="rId3">
            <a:alphaModFix/>
          </a:blip>
          <a:srcRect b="0" l="0" r="0" t="7749"/>
          <a:stretch/>
        </p:blipFill>
        <p:spPr>
          <a:xfrm>
            <a:off x="5237175" y="1017800"/>
            <a:ext cx="3906825" cy="288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 title="parabola_frontal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17800"/>
            <a:ext cx="5237174" cy="29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Future development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Sensors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Multiple-object avoidance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More trajectories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246750" y="1686750"/>
            <a:ext cx="8520600" cy="17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THANK YOU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FOR YOUR ATTENTION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